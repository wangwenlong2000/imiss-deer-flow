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6a704be80e446c" /><Relationship Type="http://schemas.openxmlformats.org/officeDocument/2006/relationships/extended-properties" Target="/docProps/app.xml" Id="Rf586294b507542b0" /><Relationship Type="http://schemas.openxmlformats.org/officeDocument/2006/relationships/officeDocument" Target="/ppt/presentation.xml" Id="R7c3e1d340b79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bc74f185a348fb"/>
  </p:sldMasterIdLst>
  <p:notesMasterIdLst>
    <p:notesMasterId xmlns:r="http://schemas.openxmlformats.org/officeDocument/2006/relationships" r:id="R9b2e420402a648af"/>
  </p:notesMasterIdLst>
  <p:sldIdLst>
    <p:sldId xmlns:r="http://schemas.openxmlformats.org/officeDocument/2006/relationships" id="256" r:id="Rbd0b6247c30a4b86"/>
    <p:sldId xmlns:r="http://schemas.openxmlformats.org/officeDocument/2006/relationships" id="257" r:id="R1c3bcd58bd934a88"/>
    <p:sldId xmlns:r="http://schemas.openxmlformats.org/officeDocument/2006/relationships" id="258" r:id="R871a150d0134433d"/>
    <p:sldId xmlns:r="http://schemas.openxmlformats.org/officeDocument/2006/relationships" id="259" r:id="R2a847597ba934400"/>
    <p:sldId xmlns:r="http://schemas.openxmlformats.org/officeDocument/2006/relationships" id="260" r:id="R4a9459a1416947fd"/>
    <p:sldId xmlns:r="http://schemas.openxmlformats.org/officeDocument/2006/relationships" id="261" r:id="R4918c798712a4e5e"/>
    <p:sldId xmlns:r="http://schemas.openxmlformats.org/officeDocument/2006/relationships" id="262" r:id="Rec2adb06c9bb4614"/>
    <p:sldId xmlns:r="http://schemas.openxmlformats.org/officeDocument/2006/relationships" id="263" r:id="R98f72f3d3157403e"/>
    <p:sldId xmlns:r="http://schemas.openxmlformats.org/officeDocument/2006/relationships" id="264" r:id="Rec65af20e9d34fe6"/>
    <p:sldId xmlns:r="http://schemas.openxmlformats.org/officeDocument/2006/relationships" id="265" r:id="Rea6e3d2ebfe64f27"/>
    <p:sldId xmlns:r="http://schemas.openxmlformats.org/officeDocument/2006/relationships" id="266" r:id="Rba52df1289e04e0b"/>
    <p:sldId xmlns:r="http://schemas.openxmlformats.org/officeDocument/2006/relationships" id="267" r:id="R20ab826762dd42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c74f185a348fb" /><Relationship Type="http://schemas.openxmlformats.org/officeDocument/2006/relationships/theme" Target="/ppt/theme/theme1.xml" Id="R6cfa61e28e6d4dc7" /><Relationship Type="http://schemas.openxmlformats.org/officeDocument/2006/relationships/notesMaster" Target="/ppt/notesMasters/notesMaster1.xml" Id="R9b2e420402a648af" /><Relationship Type="http://schemas.openxmlformats.org/officeDocument/2006/relationships/presProps" Target="/ppt/presProps.xml" Id="Rf6c30bb1f73f40cc" /><Relationship Type="http://schemas.openxmlformats.org/officeDocument/2006/relationships/viewProps" Target="/ppt/viewProps.xml" Id="Rc4db9d79eef543a8" /><Relationship Type="http://schemas.openxmlformats.org/officeDocument/2006/relationships/tableStyles" Target="/ppt/tableStyles.xml" Id="Rc8d136e6f30543f6" /><Relationship Type="http://schemas.openxmlformats.org/officeDocument/2006/relationships/slide" Target="/ppt/slides/slide1.xml" Id="Rbd0b6247c30a4b86" /><Relationship Type="http://schemas.openxmlformats.org/officeDocument/2006/relationships/slide" Target="/ppt/slides/slide2.xml" Id="R1c3bcd58bd934a88" /><Relationship Type="http://schemas.openxmlformats.org/officeDocument/2006/relationships/slide" Target="/ppt/slides/slide3.xml" Id="R871a150d0134433d" /><Relationship Type="http://schemas.openxmlformats.org/officeDocument/2006/relationships/slide" Target="/ppt/slides/slide4.xml" Id="R2a847597ba934400" /><Relationship Type="http://schemas.openxmlformats.org/officeDocument/2006/relationships/slide" Target="/ppt/slides/slide5.xml" Id="R4a9459a1416947fd" /><Relationship Type="http://schemas.openxmlformats.org/officeDocument/2006/relationships/slide" Target="/ppt/slides/slide6.xml" Id="R4918c798712a4e5e" /><Relationship Type="http://schemas.openxmlformats.org/officeDocument/2006/relationships/slide" Target="/ppt/slides/slide7.xml" Id="Rec2adb06c9bb4614" /><Relationship Type="http://schemas.openxmlformats.org/officeDocument/2006/relationships/slide" Target="/ppt/slides/slide8.xml" Id="R98f72f3d3157403e" /><Relationship Type="http://schemas.openxmlformats.org/officeDocument/2006/relationships/slide" Target="/ppt/slides/slide9.xml" Id="Rec65af20e9d34fe6" /><Relationship Type="http://schemas.openxmlformats.org/officeDocument/2006/relationships/slide" Target="/ppt/slides/slide10.xml" Id="Rea6e3d2ebfe64f27" /><Relationship Type="http://schemas.openxmlformats.org/officeDocument/2006/relationships/slide" Target="/ppt/slides/slide11.xml" Id="Rba52df1289e04e0b" /><Relationship Type="http://schemas.openxmlformats.org/officeDocument/2006/relationships/slide" Target="/ppt/slides/slide12.xml" Id="R20ab826762dd42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6c4c6ef35e841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49c12390c4481e" /><Relationship Type="http://schemas.openxmlformats.org/officeDocument/2006/relationships/notesMaster" Target="/ppt/notesMasters/notesMaster1.xml" Id="R39fa0e71947f44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9d0c837e5c476e" /><Relationship Type="http://schemas.openxmlformats.org/officeDocument/2006/relationships/notesMaster" Target="/ppt/notesMasters/notesMaster1.xml" Id="Ra1961086e1d747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3f8e67acf44cf4" /><Relationship Type="http://schemas.openxmlformats.org/officeDocument/2006/relationships/notesMaster" Target="/ppt/notesMasters/notesMaster1.xml" Id="Rf2a5950df3ed4d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24ea2d69044cd" /><Relationship Type="http://schemas.openxmlformats.org/officeDocument/2006/relationships/notesMaster" Target="/ppt/notesMasters/notesMaster1.xml" Id="R46029159e00146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b9a2fe935041fc" /><Relationship Type="http://schemas.openxmlformats.org/officeDocument/2006/relationships/notesMaster" Target="/ppt/notesMasters/notesMaster1.xml" Id="R3799640553024d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8586b76bda4e08" /><Relationship Type="http://schemas.openxmlformats.org/officeDocument/2006/relationships/notesMaster" Target="/ppt/notesMasters/notesMaster1.xml" Id="Rbb7b93d509b44d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c3004b04ef4007" /><Relationship Type="http://schemas.openxmlformats.org/officeDocument/2006/relationships/notesMaster" Target="/ppt/notesMasters/notesMaster1.xml" Id="Rd712ddf309dd41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4fee0dd85b4de0" /><Relationship Type="http://schemas.openxmlformats.org/officeDocument/2006/relationships/notesMaster" Target="/ppt/notesMasters/notesMaster1.xml" Id="R9eaec8ff608f40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08c0f4afca45b7" /><Relationship Type="http://schemas.openxmlformats.org/officeDocument/2006/relationships/notesMaster" Target="/ppt/notesMasters/notesMaster1.xml" Id="Rf663979dbf804f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5ce0ac170644c0" /><Relationship Type="http://schemas.openxmlformats.org/officeDocument/2006/relationships/notesMaster" Target="/ppt/notesMasters/notesMaster1.xml" Id="R926769ca5a1f4d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73f39c7fbf493c" /><Relationship Type="http://schemas.openxmlformats.org/officeDocument/2006/relationships/notesMaster" Target="/ppt/notesMasters/notesMaster1.xml" Id="R5fc410b8f6cb45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75d6fca5024566" /><Relationship Type="http://schemas.openxmlformats.org/officeDocument/2006/relationships/notesMaster" Target="/ppt/notesMasters/notesMaster1.xml" Id="Rdc62e6985f0b4f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f97f26f734bc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3e8795fde484f0f" /><Relationship Type="http://schemas.openxmlformats.org/officeDocument/2006/relationships/slideLayout" Target="/ppt/slideLayouts/slideLayout2.xml" Id="Rbe7063e59d3d41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7063e59d3d41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2d612ce91e4047" /><Relationship Type="http://schemas.openxmlformats.org/officeDocument/2006/relationships/notesSlide" Target="/ppt/notesSlides/notesSlide1.xml" Id="R4e939f38e13745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dd9455e814cdb" /><Relationship Type="http://schemas.openxmlformats.org/officeDocument/2006/relationships/notesSlide" Target="/ppt/notesSlides/notesSlide2.xml" Id="R14d0e26bb6eb4e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fbffb08d0b41f0" /><Relationship Type="http://schemas.openxmlformats.org/officeDocument/2006/relationships/notesSlide" Target="/ppt/notesSlides/notesSlide3.xml" Id="Ra6a5f81a1043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a9d4e797045c0" /><Relationship Type="http://schemas.openxmlformats.org/officeDocument/2006/relationships/notesSlide" Target="/ppt/notesSlides/notesSlide4.xml" Id="Rf961f2192b644a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a7a2b48cc74c90" /><Relationship Type="http://schemas.openxmlformats.org/officeDocument/2006/relationships/notesSlide" Target="/ppt/notesSlides/notesSlide5.xml" Id="Ref33ffff49de42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7632ae17834b9c" /><Relationship Type="http://schemas.openxmlformats.org/officeDocument/2006/relationships/notesSlide" Target="/ppt/notesSlides/notesSlide6.xml" Id="R66ede93f8de540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9516b6e6c24aaf" /><Relationship Type="http://schemas.openxmlformats.org/officeDocument/2006/relationships/notesSlide" Target="/ppt/notesSlides/notesSlide7.xml" Id="Rcc4d013b69014f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eca50ee11d404d" /><Relationship Type="http://schemas.openxmlformats.org/officeDocument/2006/relationships/notesSlide" Target="/ppt/notesSlides/notesSlide8.xml" Id="R3a09b554c1c942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e23b2b97a2438f" /><Relationship Type="http://schemas.openxmlformats.org/officeDocument/2006/relationships/notesSlide" Target="/ppt/notesSlides/notesSlide9.xml" Id="R7f325d6a566a48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e9eaa2747041a0" /><Relationship Type="http://schemas.openxmlformats.org/officeDocument/2006/relationships/notesSlide" Target="/ppt/notesSlides/notesSlide10.xml" Id="Rc6871fd662124e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8e7b002854b44" /><Relationship Type="http://schemas.openxmlformats.org/officeDocument/2006/relationships/notesSlide" Target="/ppt/notesSlides/notesSlide11.xml" Id="Rd22c8d1e33264f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dbf74c611b43c6" /><Relationship Type="http://schemas.openxmlformats.org/officeDocument/2006/relationships/notesSlide" Target="/ppt/notesSlides/notesSlide12.xml" Id="Re0d97b78b1e449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54E8D-0DFC-4B67-878E-324CA6AB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9F960-FD99-4559-9F20-478745BE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面向城市治理智能体生成的查询脚本、分析代码和工具调用代码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33052-172A-4B7A-8366-8ACD3606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开展语义解析与合规检测，防止越权访问、隐私泄露和错误决策风险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DE512-18D6-4643-8266-71B7D121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906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219F0-B78E-41A1-9F0D-5A3DEEA9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说明重点：新构建功能的目标、架构、核心能力、检测流程和应用效果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67BA6-F221-43BA-989D-99FD6AC5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1</a:t>
            </a:r>
          </a:p>
        </p:txBody>
      </p:sp>
    </p:spTree>
    <p:extLst>
      <p:ext uri="{BB962C8B-B14F-4D97-AF65-F5344CB8AC3E}">
        <p14:creationId xmlns:p14="http://schemas.microsoft.com/office/powerpoint/2010/main" val="777350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1518B-169C-4182-980E-23E86337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一、功能建设背景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146A8-CFCA-487D-9929-8C91F51F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城市治理智能体从“生成文本”扩展到“生成并执行代码”，风险边界随之进入程序层。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64088-A967-4033-8A07-F07BAB31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09DE5-9331-47E8-8156-1E0B114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16A89-64AE-4CA7-A32F-FA2010CA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009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智能体会生成 SQL、Python 分析脚本、报表导出代码、API 调用参数和工具编排逻辑。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1DCC1-3A8B-4BBF-A18B-96991460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67059-F09D-4CC6-B1CA-B90E8DC2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09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这些程序片段可能访问人口、事件、交通、企业、地理位置等城市治理敏感数据。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3F562-B25B-4A90-BFA3-7120C336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51B08-25A2-4B32-ADD6-9076847E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009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传统文本安全检查无法识别代码中的权限绕过、硬编码凭据、敏感字段传播和危险工具调用。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01973-7EB5-4899-B21B-88E6C298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E1D8D-BCF9-4037-B4D2-66334FB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009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因此新建一套以 OpenGrep 为确定性扫描底座、以语义解析为上下文增强的程序合规检测能力。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038C2-95B5-451F-ACE4-97470648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2</a:t>
            </a:r>
          </a:p>
        </p:txBody>
      </p:sp>
    </p:spTree>
    <p:extLst>
      <p:ext uri="{BB962C8B-B14F-4D97-AF65-F5344CB8AC3E}">
        <p14:creationId xmlns:p14="http://schemas.microsoft.com/office/powerpoint/2010/main" val="886887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613D2-A65A-47C3-AFA0-01E978AC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二、检测对象范围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8B794-6503-456B-A627-7C338612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覆盖智能体生成代码在数据获取、分析处理、文书生成和外部工具调用中的主要风险面。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C936D-07D3-4C0E-AD91-FE7E3912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6D1CA-18AF-4B03-8A91-6E3EC937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9E74B-6DBF-42B5-B19C-E9DE6776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对象类型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ED3E7-9375-42C6-A586-8CC8AE34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2400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CBEF8-44B0-41D6-A35F-5A8E677A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00200"/>
            <a:ext cx="4038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典型内容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34455-954D-4B77-A5AE-968B4B3A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04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CB064-C4D9-4C74-81F6-3FA7E12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4895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重点检测风险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51B00-D9AC-47A0-AF92-232A167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45BD4-0926-4D35-AFC1-CE6158D3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查询脚本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2FAF6-73DF-437C-B2A6-47ADD296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4315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AE06B-5C80-455C-B318-83406FE6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19350"/>
            <a:ext cx="4038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SQL、ES 查询、数据接口筛选条件、跨表关联语句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E233D-5CA9-4090-B089-27A472BA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504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FFC87-D3EB-4232-BDC5-0EF6698F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4895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越权查询、敏感字段读取、超范围检索、绕过租户或区域边界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A0D7D-C02F-488B-B36D-E0717F5E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9493-3105-4209-B71F-49BAC306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分析代码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A32590-BFCE-40DA-A24C-D31563AF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6230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AF9F0-6C31-498C-96A3-A9280C55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38500"/>
            <a:ext cx="4038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Python / JS 数据清洗、聚合、预测、排序、评分代码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F3412-DC82-433C-B48B-3216953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504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97A4A-A0F3-46E6-BFA8-7B1CA3F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4895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隐私字段传播、危险函数、不可解释决策、错误聚合口径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8A23A8-77D6-4BF9-8E97-2B95A9DF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A8A06-26F6-46F2-A86E-EB4CC2CB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工具调用代码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0CA22-2AD5-4E48-99AF-D910518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8145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466F3-2A58-4A7F-BDAE-1A2C64B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7650"/>
            <a:ext cx="4038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HTTP 请求、数据库连接、文件导出、消息推送、模型工具参数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65AF3-77AD-4693-A475-A96DC0F4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504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8CA4FB-807C-4D4D-AD9E-3DBF90CF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57650"/>
            <a:ext cx="4895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硬编码凭据、外联地址、未授权写入、危险文件路径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35F2F-9A8E-4D81-8C0F-379675AB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229AD3-0735-40F2-8574-A1A6605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文书生成逻辑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56516-F848-451E-9A12-F6EB47BF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08A53B-1EB2-4522-BEEC-67D9084D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76800"/>
            <a:ext cx="4038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报告导出、脱敏、模板填充、摘要生成、留痕归档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2E1BD-FD60-4583-811F-AF2EAF78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00600"/>
            <a:ext cx="504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48624E-4011-4145-A57B-76D8F994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4895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脱敏失效、身份信息外泄、引用错误数据、审计缺失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3EFD0D-6B31-4A58-98CA-98F0BFD7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3</a:t>
            </a:r>
          </a:p>
        </p:txBody>
      </p:sp>
    </p:spTree>
    <p:extLst>
      <p:ext uri="{BB962C8B-B14F-4D97-AF65-F5344CB8AC3E}">
        <p14:creationId xmlns:p14="http://schemas.microsoft.com/office/powerpoint/2010/main" val="1061071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8F5DF-E457-4587-B0A8-2396A465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三、总体架构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4A046-504B-4346-B5A5-D1296A19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OpenGrep 负责可复现规则命中，语义层负责理解调用意图和治理场景。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4119-B75D-4EEB-9925-FAC110D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4B0B9-945A-455A-9228-1E0688CF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90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D54F1-D7FD-4A42-BA19-FCC17301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9621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代码采集层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接收智能体生成的脚本、函数、工具参数、临时代码片段和仓库变更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0FBE9-B0F3-429E-8247-F945A5AF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52675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58C4C-8ACA-4D46-B8DC-9584EC10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28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32CFE-DD5E-44AD-A438-5855101A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09750"/>
            <a:ext cx="20574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语义解析层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解析变量、函数、数据源、字段、权限边界、工具调用链和输出去向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5D12-682F-41F5-B58C-3543C1ED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52675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49743-E295-4024-BC2E-444B3605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799C5-0D71-4944-A475-D5679153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0574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OpenGrep 扫描层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加载安全规则、合规规则、城市治理场景规则和密钥识别规则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6B6F4-EC74-4CD5-8233-724DBE75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52675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135A1-0844-404B-ABA8-251443D5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14500"/>
            <a:ext cx="228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94E3B-95A2-4908-8E35-2A7BF16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09750"/>
            <a:ext cx="20574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合规判定层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归并命中、计算风险等级、关联治理风险、生成整改建议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6B097-D604-43B3-B66B-8BF4374A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5095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C0BC7-B028-49B5-A035-67816F6A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00500"/>
            <a:ext cx="48672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结构化报告、SARIF/JSON、阻断结果、审计留痕、修复建议、复扫结论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CD187-3498-4062-B6AD-CBF7425C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0" cy="8096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41589-02C6-4F8E-BE96-03BC5489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FE080-71D4-4CD1-BFAC-B8CB5E9A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986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架构特点：不替代 OpenGrep，而是在 OpenGrep 之上增加城市治理语义、权限语义和数据合规语义。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FC1DF-8CF6-4B14-8054-1DCD5202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4</a:t>
            </a:r>
          </a:p>
        </p:txBody>
      </p:sp>
    </p:spTree>
    <p:extLst>
      <p:ext uri="{BB962C8B-B14F-4D97-AF65-F5344CB8AC3E}">
        <p14:creationId xmlns:p14="http://schemas.microsoft.com/office/powerpoint/2010/main" val="1520130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CE587-1492-492F-BFDF-1F16677A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四、OpenGrep 底座能力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28809-7F10-495D-8E9E-D39BF962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把程序合规检测做成可复现、可审计、可扩展的规则扫描能力。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4D167-81A0-4DBB-9E2D-40A1FCAD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66DC8-490F-4BAF-B6B0-3650B39C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23256-720B-4B83-8FA4-D7D216ED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5257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CE8DC-DAD9-4E05-8C12-7C155135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4763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D2A07-8F7D-4987-91D6-DEEFBD6E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5525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建设内容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03A4C-CD38-4744-B562-689CD2B1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76375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B5F8B-05F6-4721-AB70-CD9FFA39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52575"/>
            <a:ext cx="413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9DB79-F629-4AD5-8865-A74A12B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193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141BF-224B-4DBC-A5BE-679E71DA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9552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多规则源编排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870D5-1B52-4CFF-B6B1-4BFAD2AB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193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96681-F4F5-435D-A364-BC6BA3E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2955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整合 OpenGrep 官方规则、自定义规则、密钥检测规则和项目规则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B39DF-F292-4A6F-8D46-C970588D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19325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8AB67-31AC-4F5F-B362-4796DB3A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95525"/>
            <a:ext cx="413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扩大覆盖面，兼顾通用安全与城市治理专用场景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0B86A-300C-4A05-878A-19E716A9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6227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BD6D9-FCF8-426D-8A7D-6EFDB377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代码结构匹配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85074-B884-4C57-AA1E-2E056BEE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622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A0BA1-6A17-4C4A-B7E2-9A19A0E0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384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按语言 AST / 模式匹配识别函数、参数、变量、字面量和调用关系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466A3-D979-4465-9A28-7B75AD3A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62275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10857-EE74-4554-9199-01485202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38475"/>
            <a:ext cx="413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比纯文本检索更准确，能定位到具体代码结构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7BB9E-75B9-47FF-B8C5-EA7227D9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AA0BF-7408-45BD-B46D-3F8B90B7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8142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风险定位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FA61A-7BC2-4873-BDA9-46352364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052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A0202-9CB4-478E-AC28-19F0CD72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7814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输出文件、行号、规则 ID、严重度、证据片段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E6904-F83A-4412-B6C6-47DBC8B8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05225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3D7A0-FA21-4B08-B8A1-3959C449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81425"/>
            <a:ext cx="413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便于开发者快速复现和整改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25DDF-D1C4-436F-ADCF-754A7519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4817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69E4CB-80F0-4590-B2C3-4C0584D4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2437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机器可读输出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E238F6-DDDA-4DD2-B3B0-B8C81EF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481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39276-D713-4FF9-98C5-960796B0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5243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 JSON / SARIF / Markdown 摘要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B115A5-D6AC-4F9B-A781-D2E6F384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48175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E3904B-BE7B-429E-A5C0-9E3742FE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524375"/>
            <a:ext cx="413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可接入 CI、审计系统、工单系统和安全看板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8D237F-FAB7-45F7-B5C1-663A9B5B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94968D-8582-4581-84AF-C0B1763C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6732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规则持续迭代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9DE58B-DD76-42A9-A33E-9F57ED0A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911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D37839-B4D5-43A6-ABBA-95B1642B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2673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根据智能体生成代码的新模式补充规则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F18006-6F8D-4046-BC53-8B3A985F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91125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5AEA44-90CA-4F1E-A15F-AF9E6A9F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267325"/>
            <a:ext cx="413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让检测能力随业务和模型行为持续进化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CD472E-059F-43FB-B6DE-7A6B93FF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5</a:t>
            </a:r>
          </a:p>
        </p:txBody>
      </p:sp>
    </p:spTree>
    <p:extLst>
      <p:ext uri="{BB962C8B-B14F-4D97-AF65-F5344CB8AC3E}">
        <p14:creationId xmlns:p14="http://schemas.microsoft.com/office/powerpoint/2010/main" val="9949170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0FD7C-DF57-413C-89B0-0FDE8075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五、新增语义解析能力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C9685-BF85-477B-98DE-5E3FAB72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解决单条规则命中无法说明“为何危险、影响哪里、如何修复”的问题。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7F2DE-2563-415D-A357-714162A6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F336F-8E57-4514-B9AA-959291AE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DB198-CE38-478E-8439-EA6C18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52575"/>
            <a:ext cx="1419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语义能力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AD262-CBB0-4F17-A20C-3A8F41DC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763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2C14A-393C-48F9-BBCC-7AA9311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525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解析内容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06EFD-2CA0-443B-B981-0C67038F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76375"/>
            <a:ext cx="4333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97B00-0BD4-4134-A516-E4618538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52575"/>
            <a:ext cx="4181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用于判断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3216C-145F-4E86-9CB1-DC087C9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1932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DAA7D-F03F-4CC7-B29C-B3B2A67B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95525"/>
            <a:ext cx="1419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数据语义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9F14F-03CB-481F-A79F-79353E8F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193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2B28B-B2E0-4E0C-8A99-6B55E38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955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识别字段名、表名、数据源、行政区划、人员身份字段和业务主题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E4060-F71D-44D8-9E31-42034FD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19325"/>
            <a:ext cx="4333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960F2-70F9-43A2-A580-B00FC3B2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95525"/>
            <a:ext cx="4181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是否触达敏感数据或超范围数据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5AC7E-ADF2-4656-96ED-02669439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6227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C4D85-A2CA-42EE-A4D7-D5D41AF0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1419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权限语义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DFAD3-6CD8-439C-95B1-4ECABE6D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622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D2571-AE73-4B96-B15E-6F00B898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384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识别租户、角色、区域、只读/写入、审批状态和默认凭据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FC22D-D370-4191-B554-490C39ED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62275"/>
            <a:ext cx="4333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648CD-B5FB-412D-B49D-C9A0B524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38475"/>
            <a:ext cx="4181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是否存在越权访问或权限绕过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F8142-9B27-436A-B761-6E2942B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3023F-7E4D-4D34-BB7E-666F2362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81425"/>
            <a:ext cx="1419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调用语义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6A621-435F-4D66-BFE3-6578043D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052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4A074-7E51-4C29-8900-76AB8674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814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 API、数据库、文件、模型工具、消息推送等调用链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2D363-5FF0-4955-ABF3-DEBFEE2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4333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52B94-D0B9-4566-8B85-8A4739D9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81425"/>
            <a:ext cx="4181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数据是否流向不合规工具或外部系统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5AD4A-35A6-4916-ACBD-10157046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4817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2A84B-7DC3-4CAC-A724-CF3DCA28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24375"/>
            <a:ext cx="1419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输出语义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F7C899-82B1-46F9-A659-4D29D646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481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31B809-DCE4-4165-B72B-A9A5DD9F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243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识别日志、缓存、报表、文书、下载文件和序列化结果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408037-EA7B-42D6-912E-2C71B27F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48175"/>
            <a:ext cx="4333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120F1B-D70A-4279-A890-5A62E3E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24375"/>
            <a:ext cx="4181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敏感数据是否可能在生成物中泄露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D014AA-3B6E-46EA-BF24-2F77FA6E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067CCA-D862-4F80-81AF-872EA86F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67325"/>
            <a:ext cx="1419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决策语义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EB3A08-0560-4980-BAD6-DF0FCBEA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7825AC-9DB3-481D-9FA7-2612D61D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673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识别排序、评分、聚类、预测、阈值和自动派单逻辑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33F189-F638-44C2-B87F-711DA355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91125"/>
            <a:ext cx="4333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5D98D2-A691-4D15-A9E3-211573A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67325"/>
            <a:ext cx="4181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是否存在错误口径或不可解释决策风险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247E8E-1028-4172-850F-FE25B557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6</a:t>
            </a:r>
          </a:p>
        </p:txBody>
      </p:sp>
    </p:spTree>
    <p:extLst>
      <p:ext uri="{BB962C8B-B14F-4D97-AF65-F5344CB8AC3E}">
        <p14:creationId xmlns:p14="http://schemas.microsoft.com/office/powerpoint/2010/main" val="23376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BB0FA-D7D4-46E7-A3E1-052D8C53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六、合规规则体系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7EBAD-F2EE-45A8-90DF-B8D08F79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规则不只看安全漏洞，也看城市治理业务边界和数据使用边界。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B301D-C5DE-47A3-B1BE-26012340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85D1E-6313-4CD3-9464-32C3B4BD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786E5-8944-445E-B57D-0B12F592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5257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EA2DF-7623-4CCD-8E32-F7F65FFD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47637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DA480-80C4-441E-AEC1-F9240F1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55257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FB6F7-6980-4E42-BBB7-E0B75649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22DB1-F4F1-4209-B44A-904BA75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52575"/>
            <a:ext cx="4324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示例判定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85B8F-6003-4A34-BE71-E8481676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193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8818C-2AD5-45E0-B72D-F4D7378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9552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凭据与密钥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90E04-624A-4B3F-9A3D-3F668A9F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193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AD9F7-E078-41EC-9102-1743CBA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29552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硬编码 token、password、private key、默认连接密码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C5495-2D9B-4D66-99C0-87CF87C9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193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B45E3-2436-404E-8AB2-991C9371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95525"/>
            <a:ext cx="4324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禁止凭据进入代码、日志、报告和智能体上下文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BD341-685D-4913-B484-A489B547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6227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64AA1-0456-4671-A239-80CBD2F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数据访问边界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F5EE6-0B26-4E1A-A8C9-B705C925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6227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C7DEC-61DF-48D5-8481-C68B2ED6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3847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跨区域、跨租户、跨角色查询；缺少 where / scope / tenant 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580ED-B81C-4C08-8013-99B6BA62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622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3BCB0-A330-4F04-BDBB-4B270287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38475"/>
            <a:ext cx="4324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查询范围必须匹配当前任务授权范围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48B9F-CEE4-4C82-87D2-69FD1AC8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EB1BD-B967-4E58-A42A-92CAB7C6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8142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隐私保护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C3143-1C67-49C2-862A-5E11D1E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052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ADB68-7523-49F8-8051-6457FD0E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78142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手机号、身份证、住址、轨迹、个人画像等字段流向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45F26-585B-492B-B2DF-A7ADD77F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052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21502D-0EBB-423D-975F-571E8314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81425"/>
            <a:ext cx="4324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生成文书和报表前必须脱敏或最小化使用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60F0A-1312-408E-B1D8-FEDB60F5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4817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F365CC-9668-4304-8A15-ACC2955B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2437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危险工具调用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D065D-1D3F-407F-8323-73449C29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4817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FDA2AA-F64A-457C-B148-7A7339DC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52437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外部 URL、shell、文件写入、数据库写入、批量导出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5037C-E1BC-43E9-9AB7-2339673B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481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3F7C2-E054-423D-9F46-F5CE0C3E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524375"/>
            <a:ext cx="4324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高风险工具必须显式授权并留痕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D8681-DFB2-4DB3-B5A1-661EAAD7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B9FE59-1001-4B7A-90C9-4806C317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67325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决策可靠性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2FCE26-8A8A-4300-ADFF-218950A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91125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F614DD-33CF-4A7D-9AEB-81FB0D9F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267325"/>
            <a:ext cx="4610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自动评分、自动派单、自动预警、模型结果直接落库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51BCE0-C50A-459A-8036-BC0B127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911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F06C67-C20B-482A-99D8-76A3D935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67325"/>
            <a:ext cx="4324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重大治理决策需有人审、可解释和可回滚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45E79C-DFC9-47CE-B706-3DE0C14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7</a:t>
            </a:r>
          </a:p>
        </p:txBody>
      </p:sp>
    </p:spTree>
    <p:extLst>
      <p:ext uri="{BB962C8B-B14F-4D97-AF65-F5344CB8AC3E}">
        <p14:creationId xmlns:p14="http://schemas.microsoft.com/office/powerpoint/2010/main" val="1127359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6BB8F-BF2C-4364-959A-D2CC10C2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七、检测工作流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17ECD-93F1-4EA4-8675-7DBC709A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在智能体生成代码后、执行代码前完成合规检查和风险阻断。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61342-9608-436F-804B-FE05E0E8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A705B-5CCF-4C72-BDAD-21C4FAC1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EEB2C-27FE-4B04-886C-785DDE65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05000"/>
            <a:ext cx="15811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1. 生成代码</a:t>
            </a:r>
          </a:p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智能体产生脚本、工具调用或仓库补丁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B722A-D5A2-48DD-83B5-712BBDF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050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69B45-B119-49C9-8F25-54F3F3DE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AA402-D474-4ECB-9D40-D0235301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05000"/>
            <a:ext cx="15811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2. 代码归一化</a:t>
            </a:r>
          </a:p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补全上下文、识别语言和入口点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092B8-8DC6-4E93-8231-EE6190AD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050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BC166-BB03-40CB-913D-931402C5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0975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24EA4-B760-4A72-B8DD-155F9593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05000"/>
            <a:ext cx="15811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3. OpenGrep 扫描</a:t>
            </a:r>
          </a:p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执行规则集并输出命中证据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9395B-6905-40F4-B757-92B1F69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050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EE9BB-6EB3-4F81-B196-9C43461C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C093E-7625-4364-8030-E246A41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05000"/>
            <a:ext cx="15811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4. 语义归并</a:t>
            </a:r>
          </a:p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合并重复命中并还原调用链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74107-C2E2-44EA-A201-A5CE30B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05050"/>
            <a:ext cx="4286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46871-7D22-4267-9E7B-0E74199E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09750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6B867-E8F0-4B5B-8FE3-147F37AD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905000"/>
            <a:ext cx="15811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5. 合规判定</a:t>
            </a:r>
          </a:p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分级、阻断、告警或放行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35A44-003A-4D7B-9E88-1ECB1AC4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57625"/>
            <a:ext cx="542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BE39D-9B38-4F5C-AE4F-E31D8B21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52875"/>
            <a:ext cx="52006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6. 整改闭环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生成报告、修复建议、工单、复扫记录和审计证据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094BC-9D89-4523-8F2A-23F97E42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57500"/>
            <a:ext cx="-3714750" cy="10001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73135-B704-4A6F-8DCD-2C4C1AB7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AA734-263B-48FC-AB25-741A6DE7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67375"/>
            <a:ext cx="958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执行策略：P0 风险阻断执行；P1 风险要求整改后复扫；P2 风险进入审计或规则优化队列。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35C1E-EDE7-4CC7-AE40-C46E84A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8</a:t>
            </a:r>
          </a:p>
        </p:txBody>
      </p:sp>
    </p:spTree>
    <p:extLst>
      <p:ext uri="{BB962C8B-B14F-4D97-AF65-F5344CB8AC3E}">
        <p14:creationId xmlns:p14="http://schemas.microsoft.com/office/powerpoint/2010/main" val="1364492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E48C6-8467-4A3A-B1D1-2DF01C81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八、功能输出物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5FFE5-06D6-4400-A7A4-3172C215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面向开发、安全、审计和业务治理四类角色提供不同粒度的结果。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D1AB8-1BB9-444A-81E5-D5D8BD7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5BC11-8E24-4357-BA0C-A04005CC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E0294-9311-4F8B-AAFA-DCFC243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562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F9D29-0DB6-4758-96DB-6785572D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2400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B624D-39D1-478B-86FF-3075A1FC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5181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42B05-EA7D-48B6-836A-3A1D8E92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F1441-F67B-4D0C-9B39-DA6B03EB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0200"/>
            <a:ext cx="3562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0D04F-F158-4DE9-9394-5AE9F1CE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8788C-8F69-4BAB-952F-D8DE501E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562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D16AF-5445-48B7-8219-7C6C506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1AAAC-BBB0-43E1-9822-8A9AA397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62200"/>
            <a:ext cx="5181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问题清单、规则来源、代码位置、风险解释、整改建议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2E992-B16A-4F25-A91E-D590130D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0BF4D-BD2C-44B3-A0B1-F0622A72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3562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安全人员、项目负责人、业务负责人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42D76-801C-4D6F-920B-683A9BD6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5D54E-F1FA-422C-8DCE-BE57AE0B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562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结构化结果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16D30-85A1-43E2-ADB1-0811BB4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41C8B-A741-4558-9844-115A98A6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5181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JSON / SARIF：规则 ID、严重度、文件、行号、证据和状态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3F078-8511-4DF5-A710-9E5E747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22D5F-174E-4BCA-BE95-E49B01FC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24200"/>
            <a:ext cx="3562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CI/CD、代码平台、安全看板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9EC64-1764-4379-A2A1-999B12F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949A1-E1ED-4C05-9CC4-C065F6C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562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风险矩阵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72237-0809-4EC3-89FF-1DA8C0DA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4EADA-439E-4B5B-A41C-591B1E1A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86200"/>
            <a:ext cx="5181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按越权访问、隐私泄露、错误决策、审计缺失分类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EF3DD-0196-4B1A-AB4E-EF66578F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092098-BFD6-49C2-A18C-53EFD674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86200"/>
            <a:ext cx="3562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城市治理业务管理者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4FB6A3-937E-49DA-992E-375DB228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0FA5C-F593-4FDB-8B10-2EDACE4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562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阻断结论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9ECDB-225A-437F-9EA1-4309E0FC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C61B6-D14F-45E9-8DB5-0C9CB9AA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48200"/>
            <a:ext cx="5181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通过、告警、需人工确认、禁止执行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0494A-7C2F-4EFA-ADD1-6D7F5BBA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A0A832-F955-430A-A5BF-332D48CE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48200"/>
            <a:ext cx="3562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智能体运行时、发布流程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72EDFC-8AC7-4E9B-8868-1A179352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5FF136-C22B-490E-AD02-88F6BA28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562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复扫记录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93563B-F028-451E-BA6F-1B203568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54CA0A-6A3C-489C-B8DF-3A276DEA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5181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修复前后对比、剩余风险、放行依据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51B9F7-B9B6-4756-9B91-1D422A1E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5C4D12-D243-40E2-A328-9D68F412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562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审计与合规留痕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DC1260-C649-45AB-944C-1DECC1E9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9</a:t>
            </a:r>
          </a:p>
        </p:txBody>
      </p:sp>
    </p:spTree>
    <p:extLst>
      <p:ext uri="{BB962C8B-B14F-4D97-AF65-F5344CB8AC3E}">
        <p14:creationId xmlns:p14="http://schemas.microsoft.com/office/powerpoint/2010/main" val="1173128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993FB-6A3A-4DC5-B641-00B0134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九、已完成的建设任务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8077C-4132-4FE6-9939-5009CCC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本阶段完成的是一套可运行、可解释、可扩展的程序合规检测功能框架。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637A7-5345-4545-93F0-FFCD028C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617D9-00BE-453C-B9E4-76B68C4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55F32-61D0-4954-AD71-B7752E73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5257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建设任务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D6129-D6F1-4178-B304-4686B2DB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763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1E144-A599-42AE-9D59-6832A3FE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5525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完成内容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D14E0-5B9C-4043-8002-A4F7D977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7637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FB788-7610-43B1-B59D-2D077F50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55257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直接效果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4CE9D-C1FB-4EDA-818F-BC4CA5C5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1932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3DC2B-C4E0-4D7B-BD5F-64F34BC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9552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OpenGrep 调用封装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D284C-E207-4419-BC05-00637EC5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193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E8F35-DDA8-4111-A482-D082C3D2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955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统一扫描入口、规则加载、输出解析、结果归并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3AED8-A968-42F7-ABF1-B902293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193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04BEC-CFA1-4D3D-9AAB-9D7B5CB3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9552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将代码合规检测纳入自动化流程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A1097-82C5-4FB7-9DA6-CFF38D2D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6227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F5494-3482-4D61-9A29-421BF10F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城市治理规则扩展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419702-9511-4AAB-BF20-F7371EF2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622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CDE53-94F0-4AE0-824A-9DBE8A01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384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围绕凭据、数据边界、隐私字段、危险工具、决策逻辑建立规则分类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A392E-563D-45D9-99BE-1F982B74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6227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FE83C-ADAE-4E62-8F1A-6A0169B7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3847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让通用代码扫描具备治理业务语义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21B84-0F8F-4C30-856F-D07CAE04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648D6-E141-497E-947F-AE2EB46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8142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语义解析增强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AC031-8E0D-411F-A6DA-09656535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052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7791B8-89F8-4EE7-9618-681B8D6D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814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分析变量、函数、数据源、字段、工具调用链和输出去向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FA64AD-F2F0-45C5-B50E-42D98B54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052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A38AA-9FB4-498E-B55B-D57E3CA2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8142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把规则命中转化为可理解的风险链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DE9664-0A37-4CFB-BBF2-119D035A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4817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B09A9B-5591-4F3D-B592-E320D911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2437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风险分级机制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1D170-3C4B-494C-A869-D2B0FCDD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4817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63B65F-3B56-4ABF-85A9-D9153713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2437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形成 P0/P1/P2 分级和阻断、整改、审计策略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8F723-5A07-434F-982B-A5CB20F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4817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BF6C8-144E-422F-B06C-20649FD8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2437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让检测结果可执行，而不是只停留在提示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56DF41-4986-4AF7-8916-5BE588E2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7392AF-DC76-495A-9B6E-6DD0DC85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6732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报告与留痕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09ACC-B4E9-4E18-B144-92C37681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91125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E8BD0A-C95F-4270-A46A-B49FD77F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67325"/>
            <a:ext cx="4800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生成面向人员阅读和机器集成的结果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B26660-36B0-48E9-85C5-35A529DA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1911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23553B-6F31-43FE-976C-D9327E07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6732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支持审计、复扫、工单流转和长期规则优化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E2773E-9E5C-4718-832D-CF2F6BE0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10</a:t>
            </a:r>
          </a:p>
        </p:txBody>
      </p:sp>
    </p:spTree>
    <p:extLst>
      <p:ext uri="{BB962C8B-B14F-4D97-AF65-F5344CB8AC3E}">
        <p14:creationId xmlns:p14="http://schemas.microsoft.com/office/powerpoint/2010/main" val="682767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2CFFC-EB08-4E45-A6B6-01356DBD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十、应用效果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14E3D-33A8-4598-8A62-B72C7B74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把智能体生成代码从“生成后直接执行”变为“生成后先合规验证”。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8D279-2E78-47ED-8D2E-D9401C02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B9891-CD5D-4B5A-8789-7DEFD38D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2B8AE-04F7-401F-867B-8B5E6DD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4782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效果方向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A48BA-8E03-4A77-BE39-C258619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60FA3-B7A8-499B-9E9C-AB57EB3F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47825"/>
            <a:ext cx="765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具体效果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3F05C-BDCE-422F-BCF3-1B5524D4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73794-029E-49AF-81DF-9CD5E48C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防止越权访问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E3D78-7048-4FA8-96BE-528ECB5F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57D8F-C872-41E4-BD88-46895F44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90775"/>
            <a:ext cx="765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识别跨区域、跨租户、默认凭据、数据库直连和未经授权的外部 API 调用。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FB24D-F0A7-4B6C-BEE7-453DA4BD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440DC-B5F4-41A0-97B1-E5AE6E1E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防止隐私泄露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DE79B-7B5A-4414-B9E3-67FEBE01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57525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04834-A67D-4EE4-9EAF-F92781A8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33725"/>
            <a:ext cx="765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识别个人敏感字段在日志、缓存、报表、文书和工具调用参数中的传播。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E580D-44D1-4453-830A-257D11CA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F3E63-BBD1-43F2-A7BA-0E8D4F14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降低错误决策风险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B1E7F-1942-43D8-9E19-CC6595DF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00475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C8AEE-E9C5-47E9-8C42-14CBA490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76675"/>
            <a:ext cx="765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发现未经校验的数据源、错误聚合口径、自动派单/评分等高风险决策逻辑。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A9646-C3E8-4EEC-BAF8-306387F9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C9687-C71C-4A2A-B4C8-C27C080B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提升审计能力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013FF-BD80-41CD-928D-6E565476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43425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722DD-7563-4FEA-9BE0-589814BB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19625"/>
            <a:ext cx="765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保留规则命中、代码位置、风险解释、处置状态和复扫记录。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8038D9-1A83-44A6-9EA0-EC26A734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E222B-E30A-47D1-A0C3-0B7F55FE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提升工程效率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A6C7E-D811-45AB-A67C-CAEBC6A2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86375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AD463A-4653-4528-91E1-18FDC9C7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62575"/>
            <a:ext cx="765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让开发、安全、业务三方围绕同一份结构化结果协同整改。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FCB35-7BAA-4F88-BC77-C488AE73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11</a:t>
            </a:r>
          </a:p>
        </p:txBody>
      </p:sp>
    </p:spTree>
    <p:extLst>
      <p:ext uri="{BB962C8B-B14F-4D97-AF65-F5344CB8AC3E}">
        <p14:creationId xmlns:p14="http://schemas.microsoft.com/office/powerpoint/2010/main" val="1583615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E25DB-C3DF-4A68-8B83-AA7736A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十一、落地方式与后续扩展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B60B4-F81C-4E34-8EBC-407D0A52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0EB96-3862-4B52-B7AB-08E62DF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8F29F-8DDA-4C6B-8891-485E21AF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19250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在智能体代码执行前接入检测，默认对高风险工具调用和数据导出代码进行强制扫描。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4FFB3-1F7E-451C-95C3-EBBB4CAF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76FA0-42D6-43E9-9F04-49F8C025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在代码仓库和 CI 流程中接入 SARIF / JSON 结果，形成提交前检查和发布前阻断。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3E411-C785-4980-9FD5-288B4653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A8E83-1CB4-4F95-83B8-52739DF5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按城市治理数据目录、岗位权限、业务事项清单持续扩展 OpenGrep 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A3006-560C-4A78-91AB-61F1E513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46E91-CA2A-4A59-95E9-4039A0A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76625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将误报处置、人工确认、修复复扫沉淀为审计证据和规则优化样本。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3F908-4ECD-44BC-987F-757ACA34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B1446-32DE-4863-84A7-0364F117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48250"/>
            <a:ext cx="958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总结：新功能以 OpenGrep 为可复现检测底座，以语义解析补足业务上下文，以合规策略完成风险判定，最终让城市治理智能体生成的程序代码可检查、可解释、可阻断、可追溯。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2A43B-1CBA-4DCA-B690-9655F0B4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基于 OpenGrep 的智能体程序合规性检测功能 | 12</a:t>
            </a:r>
          </a:p>
        </p:txBody>
      </p:sp>
    </p:spTree>
    <p:extLst>
      <p:ext uri="{BB962C8B-B14F-4D97-AF65-F5344CB8AC3E}">
        <p14:creationId xmlns:p14="http://schemas.microsoft.com/office/powerpoint/2010/main" val="179735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2026-05-20T13:35:10.5570000Z</dcterms:created>
  <dcterms:modified xsi:type="dcterms:W3CDTF">2026-05-20T13:35:10.5580000Z</dcterms:modified>
</coreProperties>
</file>