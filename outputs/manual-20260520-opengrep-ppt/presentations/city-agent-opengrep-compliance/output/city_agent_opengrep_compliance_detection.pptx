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75f893e01e454e" /><Relationship Type="http://schemas.openxmlformats.org/officeDocument/2006/relationships/extended-properties" Target="/docProps/app.xml" Id="R4e5c5a75215d4a79" /><Relationship Type="http://schemas.openxmlformats.org/officeDocument/2006/relationships/officeDocument" Target="/ppt/presentation.xml" Id="R71d5938f3d5a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9b2ba138424a3c"/>
  </p:sldMasterIdLst>
  <p:notesMasterIdLst>
    <p:notesMasterId xmlns:r="http://schemas.openxmlformats.org/officeDocument/2006/relationships" r:id="R9c4ea1bb8165485f"/>
  </p:notesMasterIdLst>
  <p:sldIdLst>
    <p:sldId xmlns:r="http://schemas.openxmlformats.org/officeDocument/2006/relationships" id="256" r:id="R90acea20b5fc4ef6"/>
    <p:sldId xmlns:r="http://schemas.openxmlformats.org/officeDocument/2006/relationships" id="257" r:id="Rb72f826239c94718"/>
    <p:sldId xmlns:r="http://schemas.openxmlformats.org/officeDocument/2006/relationships" id="258" r:id="R1db643e1f3a643c0"/>
    <p:sldId xmlns:r="http://schemas.openxmlformats.org/officeDocument/2006/relationships" id="259" r:id="R29de23d859584e05"/>
    <p:sldId xmlns:r="http://schemas.openxmlformats.org/officeDocument/2006/relationships" id="260" r:id="R41f22a416b7e4f3c"/>
    <p:sldId xmlns:r="http://schemas.openxmlformats.org/officeDocument/2006/relationships" id="261" r:id="Rd4f995d458954a61"/>
    <p:sldId xmlns:r="http://schemas.openxmlformats.org/officeDocument/2006/relationships" id="262" r:id="Rbed406de13f3401b"/>
    <p:sldId xmlns:r="http://schemas.openxmlformats.org/officeDocument/2006/relationships" id="263" r:id="R313c5098db994857"/>
    <p:sldId xmlns:r="http://schemas.openxmlformats.org/officeDocument/2006/relationships" id="264" r:id="Rdb7485b9d8854093"/>
    <p:sldId xmlns:r="http://schemas.openxmlformats.org/officeDocument/2006/relationships" id="265" r:id="R7988aec85d6745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b2ba138424a3c" /><Relationship Type="http://schemas.openxmlformats.org/officeDocument/2006/relationships/theme" Target="/ppt/theme/theme1.xml" Id="Rc25be202f7b3410c" /><Relationship Type="http://schemas.openxmlformats.org/officeDocument/2006/relationships/notesMaster" Target="/ppt/notesMasters/notesMaster1.xml" Id="R9c4ea1bb8165485f" /><Relationship Type="http://schemas.openxmlformats.org/officeDocument/2006/relationships/presProps" Target="/ppt/presProps.xml" Id="R4538976c05fe4535" /><Relationship Type="http://schemas.openxmlformats.org/officeDocument/2006/relationships/viewProps" Target="/ppt/viewProps.xml" Id="Rf8d8107533e04fdd" /><Relationship Type="http://schemas.openxmlformats.org/officeDocument/2006/relationships/tableStyles" Target="/ppt/tableStyles.xml" Id="R5e9c8788b4fa49e0" /><Relationship Type="http://schemas.openxmlformats.org/officeDocument/2006/relationships/slide" Target="/ppt/slides/slide1.xml" Id="R90acea20b5fc4ef6" /><Relationship Type="http://schemas.openxmlformats.org/officeDocument/2006/relationships/slide" Target="/ppt/slides/slide2.xml" Id="Rb72f826239c94718" /><Relationship Type="http://schemas.openxmlformats.org/officeDocument/2006/relationships/slide" Target="/ppt/slides/slide3.xml" Id="R1db643e1f3a643c0" /><Relationship Type="http://schemas.openxmlformats.org/officeDocument/2006/relationships/slide" Target="/ppt/slides/slide4.xml" Id="R29de23d859584e05" /><Relationship Type="http://schemas.openxmlformats.org/officeDocument/2006/relationships/slide" Target="/ppt/slides/slide5.xml" Id="R41f22a416b7e4f3c" /><Relationship Type="http://schemas.openxmlformats.org/officeDocument/2006/relationships/slide" Target="/ppt/slides/slide6.xml" Id="Rd4f995d458954a61" /><Relationship Type="http://schemas.openxmlformats.org/officeDocument/2006/relationships/slide" Target="/ppt/slides/slide7.xml" Id="Rbed406de13f3401b" /><Relationship Type="http://schemas.openxmlformats.org/officeDocument/2006/relationships/slide" Target="/ppt/slides/slide8.xml" Id="R313c5098db994857" /><Relationship Type="http://schemas.openxmlformats.org/officeDocument/2006/relationships/slide" Target="/ppt/slides/slide9.xml" Id="Rdb7485b9d8854093" /><Relationship Type="http://schemas.openxmlformats.org/officeDocument/2006/relationships/slide" Target="/ppt/slides/slide10.xml" Id="R7988aec85d6745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d4ecaad09c4d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79dc5697748ce" /><Relationship Type="http://schemas.openxmlformats.org/officeDocument/2006/relationships/notesMaster" Target="/ppt/notesMasters/notesMaster1.xml" Id="R3830b780500943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4eb241199b414f" /><Relationship Type="http://schemas.openxmlformats.org/officeDocument/2006/relationships/notesMaster" Target="/ppt/notesMasters/notesMaster1.xml" Id="Rd46a64ef7fb942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c5d53777634f22" /><Relationship Type="http://schemas.openxmlformats.org/officeDocument/2006/relationships/notesMaster" Target="/ppt/notesMasters/notesMaster1.xml" Id="R930e851b1c81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492a79553842cf" /><Relationship Type="http://schemas.openxmlformats.org/officeDocument/2006/relationships/notesMaster" Target="/ppt/notesMasters/notesMaster1.xml" Id="R54ebc8a302d644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2a88818c7b4bbd" /><Relationship Type="http://schemas.openxmlformats.org/officeDocument/2006/relationships/notesMaster" Target="/ppt/notesMasters/notesMaster1.xml" Id="R1509d71e208f41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566489a5c94236" /><Relationship Type="http://schemas.openxmlformats.org/officeDocument/2006/relationships/notesMaster" Target="/ppt/notesMasters/notesMaster1.xml" Id="R2078d1addf704b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81cca9778d42ee" /><Relationship Type="http://schemas.openxmlformats.org/officeDocument/2006/relationships/notesMaster" Target="/ppt/notesMasters/notesMaster1.xml" Id="Rc4ed8e4637614c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f1dc80576b4aaa" /><Relationship Type="http://schemas.openxmlformats.org/officeDocument/2006/relationships/notesMaster" Target="/ppt/notesMasters/notesMaster1.xml" Id="R63eb0a3d8de6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fb017cd3fb4b80" /><Relationship Type="http://schemas.openxmlformats.org/officeDocument/2006/relationships/notesMaster" Target="/ppt/notesMasters/notesMaster1.xml" Id="Re7490af537ee40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5abb831e8542f1" /><Relationship Type="http://schemas.openxmlformats.org/officeDocument/2006/relationships/notesMaster" Target="/ppt/notesMasters/notesMaster1.xml" Id="Rf2cd2ba311354d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0a1f7664c4f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340ea45f1994a29" /><Relationship Type="http://schemas.openxmlformats.org/officeDocument/2006/relationships/slideLayout" Target="/ppt/slideLayouts/slideLayout2.xml" Id="Rab73a7f0029943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3a7f0029943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fee1efd2046be" /><Relationship Type="http://schemas.openxmlformats.org/officeDocument/2006/relationships/notesSlide" Target="/ppt/notesSlides/notesSlide1.xml" Id="R4f5e3ff184ba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cab06735b4af4" /><Relationship Type="http://schemas.openxmlformats.org/officeDocument/2006/relationships/notesSlide" Target="/ppt/notesSlides/notesSlide2.xml" Id="R75cd5c223f8e43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48425495a44afa" /><Relationship Type="http://schemas.openxmlformats.org/officeDocument/2006/relationships/notesSlide" Target="/ppt/notesSlides/notesSlide3.xml" Id="R503a63b2af9744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9bb4230de4070" /><Relationship Type="http://schemas.openxmlformats.org/officeDocument/2006/relationships/notesSlide" Target="/ppt/notesSlides/notesSlide4.xml" Id="R7cb34deb70fb47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31da5cc2e48e6" /><Relationship Type="http://schemas.openxmlformats.org/officeDocument/2006/relationships/notesSlide" Target="/ppt/notesSlides/notesSlide5.xml" Id="R23bafc712d774d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d3f05cf6f64cb4" /><Relationship Type="http://schemas.openxmlformats.org/officeDocument/2006/relationships/notesSlide" Target="/ppt/notesSlides/notesSlide6.xml" Id="R6159e94c16044c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bbbd8187854450" /><Relationship Type="http://schemas.openxmlformats.org/officeDocument/2006/relationships/notesSlide" Target="/ppt/notesSlides/notesSlide7.xml" Id="R07c445b520394f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1474336c94828" /><Relationship Type="http://schemas.openxmlformats.org/officeDocument/2006/relationships/notesSlide" Target="/ppt/notesSlides/notesSlide8.xml" Id="R55eb788091b741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8572fa12144d91" /><Relationship Type="http://schemas.openxmlformats.org/officeDocument/2006/relationships/notesSlide" Target="/ppt/notesSlides/notesSlide9.xml" Id="Rf26a2d9263c64a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3e0f06bbd421e" /><Relationship Type="http://schemas.openxmlformats.org/officeDocument/2006/relationships/notesSlide" Target="/ppt/notesSlides/notesSlide10.xml" Id="Rf3dd5ab605274a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DFCA4-73F9-45CC-8D3E-2A98941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调用 OpenGrep 完成程序合规性检测说明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503F0-514B-46CF-BF63-B340A7C9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面向城市治理智能体生成的查询脚本、分析代码和工具调用代码，开展语义解析与合规检测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85FFD-1F5E-445F-B589-C4B56169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目标：防止智能体在数据分析和文书生成过程中产生越权访问、隐私泄露和错误决策风险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ADDC4-46D1-423F-A528-A1BD667B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9906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839E0-38E6-455C-9AD6-191781F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依据：界面截图中的 Layer 2 分析完成状态 + mixed_app_settings_layer2_report.md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C29E7-A7B9-4E81-8B64-545AEA72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1</a:t>
            </a:r>
          </a:p>
        </p:txBody>
      </p:sp>
    </p:spTree>
    <p:extLst>
      <p:ext uri="{BB962C8B-B14F-4D97-AF65-F5344CB8AC3E}">
        <p14:creationId xmlns:p14="http://schemas.microsoft.com/office/powerpoint/2010/main" val="1944358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8159D1-AB4E-4BF5-8ABD-1313B4C2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一、建设背景与检测目标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80BD8-A9F2-4984-A9AA-D52422B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ECF00-5408-4AA2-8BB8-DC371DB4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36730-4300-44F2-9272-859859B8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城市治理智能体会自动生成查询脚本、分析代码、报告导出逻辑和外部工具调用参数。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C1DA2-CDD5-4F1A-AB11-EC60814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019F6-0B71-4C49-B937-5F8DCF0A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这些代码可能接触人口、交通、事件、网格治理、企业主体等敏感数据。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FCEE0-1A87-4CD5-B867-CAD72EA8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F9F40-CDD5-4F64-8507-694D3068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52775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仅靠人工审查难以及时发现硬编码凭据、越权连接、敏感字段外泄和不合规工具调用。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5F530-424E-4134-935E-A240C453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ABB0B-C902-497F-A94A-6490695A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本次工作通过 OpenGrep 规则扫描与语义分析结合，对智能体生成代码进行可复现、可解释的合规检测。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EBB52-9012-4FF2-98ED-0648100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2</a:t>
            </a:r>
          </a:p>
        </p:txBody>
      </p:sp>
    </p:spTree>
    <p:extLst>
      <p:ext uri="{BB962C8B-B14F-4D97-AF65-F5344CB8AC3E}">
        <p14:creationId xmlns:p14="http://schemas.microsoft.com/office/powerpoint/2010/main" val="2130849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69BB0-0516-4AB4-961C-D17435AC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二、检测对象与证据来源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5DAC-0889-4AA2-BC66-8AC38B20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97171-64B0-4F63-AFEB-1D4C8435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7B2A8-3D32-4B82-942C-3939D5F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89CA7-A29A-439B-875B-1B8BDED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5D79D-DE05-4B13-B911-063B21E0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B7C15-C4CE-49E8-843C-A8F06BE2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803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5D78E-43BA-4952-AF42-C7684945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70EAC-45A6-4B6D-81C4-E95CCF8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5944E-CDEE-4864-B932-65AB99B7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3321B-1B12-48D1-A428-9515ED8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2818B-9367-4EB3-92A3-ECB3000D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803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mixed_app_settings.py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FCA84-6AF7-4BA2-B746-413719B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01C16-E3EE-4E48-BA7C-686D6733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1CF31-78EF-4035-B569-DDE78E4B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代码类型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3FD87-BD66-4557-BA81-BA2C40AD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DAF6F-5C99-4783-A68B-3E8F308B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14600"/>
            <a:ext cx="803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Python 配置 + 工具类混合代码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F85C8-6875-4EC0-969B-A30D9CF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5729A-3AA2-4854-9440-B915DCD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A086D-915F-4933-BA3C-6D22358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文件规模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53B16-AA93-4E3A-9768-5F726789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DFFEF-1D1F-4B3D-8198-824B8D58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803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 1.2 KB，37 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04C72-7651-4623-86A0-16A8D896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EABE4-0F12-4386-BD9A-B4D21E73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75033-3CF1-4153-885D-6B8C05E1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扫描时间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D833DE-7D19-49E4-9D9F-6E74357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C178F-6A05-45B3-8EAC-B4E8CC8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803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2026-05-20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82B1C2-0CD4-4579-B558-65A55624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9457E-38A7-412D-8AAA-58A341AF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1F058-ED2D-4B86-97E2-F0B4B3FA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OpenGrep 版本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5224A-0808-4CB8-915C-C4E86FDA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BC17BB-EB7F-4719-9A3E-A82E252F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803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1.21.0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F46452-BE56-4764-B657-3D035DC9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A7187-C951-43C1-B4E8-026D6D17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F46899-93EE-46DB-A94A-5005F90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报告来源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87F474-F058-4D2A-ADD3-F3DBC14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9620FE-2FB9-4A6F-A611-8642799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43400"/>
            <a:ext cx="803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mixed_app_settings_layer2_report.md；截图显示 Layer 2 深度分析已完成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97C6B6-09DB-490D-AF53-E24D63A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C859A-6154-4A7B-BFF3-806F8858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该样例代表智能体生成或维护的配置、连接、导出类工具代码。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E94BD7-FD49-412C-B83D-360F5FF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7C0609-FF5F-4259-80AB-1219C87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检测重点不是语法正确性，而是程序行为是否会触发凭据泄露、数据越权和错误决策链。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638F12-AA14-4237-B2DE-0A22DD67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3</a:t>
            </a:r>
          </a:p>
        </p:txBody>
      </p:sp>
    </p:spTree>
    <p:extLst>
      <p:ext uri="{BB962C8B-B14F-4D97-AF65-F5344CB8AC3E}">
        <p14:creationId xmlns:p14="http://schemas.microsoft.com/office/powerpoint/2010/main" val="1469931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772007-2162-4C59-9FEA-1254E16E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三、OpenGrep 调用与分析流程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9A7A4-6216-4204-8163-E5352D9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1CDA0-B13E-479C-A196-B0A66E48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952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34857-7BD4-46E8-AC79-3B3DE5AE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66925"/>
            <a:ext cx="16859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 收集智能体生成代码</a:t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查询脚本 / 分析代码 / 工具调用代码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AD0CC-8505-4322-A36B-9AA19249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7650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E6DD0-0EE9-4733-8C05-F793FC8A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52625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E1D48-DF5A-4603-8E2F-1F52F4E6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66925"/>
            <a:ext cx="1876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2. 语义预处理</a:t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识别变量、函数、类、连接参数和敏感字段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4F786-9AF2-4789-848A-D674288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7650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26F66-7573-485A-AE2D-A6623834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561B2-165F-4254-B25C-A61DF9F0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66925"/>
            <a:ext cx="1828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3. 调用 OpenGrep</a:t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自定义规则 + 官方规则 + gitleaks 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A3EBA-4F14-47E5-BE1A-8644C83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F8F6E-E127-4ECC-97B3-2F4C8437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99BFF-48D0-471B-8C9C-C071E072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66925"/>
            <a:ext cx="1876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4. 结果归并</a:t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去重、分级、定位行号和规则来源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0DFB9-FDDD-41E9-9232-3A376739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0" cy="619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D8882-F0F6-43AA-A1B4-4927F499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10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20A05-49D2-4C86-A8F5-5CFAA83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24300"/>
            <a:ext cx="2876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5. LLM 深度分析</a:t>
            </a:r>
          </a:p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攻击链、误报判断、优先级、修复建议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EE53C-8A2D-4B62-99C2-B2D1C942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-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27296-029E-4D9A-AD76-37CCFA5E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56380-EBF9-4472-ADA9-1EC4EBA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24300"/>
            <a:ext cx="2209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6. 合规输出</a:t>
            </a:r>
          </a:p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形成报告、风险矩阵和整改闭环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9CAAF-76A8-4213-A013-469ED108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9CF6D-D664-4039-A4FE-28662447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91175"/>
            <a:ext cx="963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流程效果：规则扫描保证可复现，语义分析补足上下文理解，最终输出面向治理业务可执行的整改结论。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AD300-F81E-4FA8-AB67-D1033535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4</a:t>
            </a:r>
          </a:p>
        </p:txBody>
      </p:sp>
    </p:spTree>
    <p:extLst>
      <p:ext uri="{BB962C8B-B14F-4D97-AF65-F5344CB8AC3E}">
        <p14:creationId xmlns:p14="http://schemas.microsoft.com/office/powerpoint/2010/main" val="391058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6A4C4-F8B7-41BA-89E2-B3A31D7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四、Layer 1：OpenGrep 确定性规则扫描结果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4FC2B-843E-485A-B245-38917F0F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BB3D4-22AC-4387-AC69-2404415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C04DB-5509-4DBF-9BD9-91BD984D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ABFB2-C8D5-48EC-A031-D4B3608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6CFF2-7D62-41EE-B47C-F1E40FC0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763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6760B-D9AC-4851-B74F-91048213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525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5073C-F5FF-41F8-BDB7-9E357A2C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FB124-B652-4632-874E-03E82B5D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525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严重度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4AB62-CF65-4B8B-A05B-CD1F2AF5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D83E8-72D5-4F0F-8508-CEC95FE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525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D1C18-668C-4EBE-AE16-F191ABE1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4BAD4-936A-4CDE-9E7F-ED642A86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2D516-195A-438E-94B3-9F435909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1C1C6-5687-4654-B6D0-02648265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335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CE29E-EA9C-4EA1-8A04-46C6F8F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97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python-hardcoded-secret-key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9CA1E-6F20-4478-A207-4964EFA3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335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EFB42-AE5D-4B89-9180-3B6F0E93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97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CC076-5555-4B85-B25D-D0B89D71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A4B4E-15A7-4956-BB27-AD5ADF6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97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硬编码 api_token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50DAD-F228-4A82-8276-5F516B1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8B3D8-E9F7-44B6-A68D-D7DDA80A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BFFDB-EE0E-4FAF-A2AC-DC40B93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F269D-ADA1-41BC-B9FF-B43FD6D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7C358-A693-4C1F-A26A-B16F1679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669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gitleaks.generic-api-key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B70F1-0983-40D8-95EF-B6FBB65C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907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5E3BDB-7A7A-41D3-BA4C-903BA8F7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669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INFO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03E84-F663-4998-BD3B-BAAF86E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907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529AD-B6AC-44C3-8089-8C40888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api_token 被检测为类密钥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F0302-9073-48FF-A139-6A912273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E27D-CC7B-4A19-A386-E5BB0FBC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A66BC4-3B02-466A-B087-3EC6695A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ACD12F-7C40-4EFA-A013-61E46536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12523-5429-4E4D-8A8A-ABA1497A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241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gitleaks.generic-api-key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61C6A2-D5F7-4C2E-8E08-D46AB8C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479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583E19-A0A3-4954-8B10-C031B8B9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241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INFO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0C7E5D-EA72-41C5-BD74-F1BA91B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479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E3D5EB-049F-4207-8160-BBAB0716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241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db_password 被检测为类密钥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AE10BF-94D5-420F-9E75-4F7CCA21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4E0926-702A-48F2-9BC2-4BC71952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B2D121-01CB-4DCD-A321-12A39E0E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7E31E7-4189-4632-B34C-D54B7BEA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B74D3A-DD30-44FA-AA8E-5CEDEA0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813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python-hardcoded-secret-key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65C44B-2E10-4E1C-89CD-7D886C6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051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EC36A7-4629-4949-8117-D0FB980C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813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WARNING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9DB6EE-4524-4E6A-8CBC-A1774C3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51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33771E-A4CD-4D46-BAEF-41ABB5EA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813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硬编码 private_key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892A19-3810-4654-BDD7-7DEED6C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6963EC-486A-4A52-9DD5-B87BB94F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49B26C-684F-4EE0-82A3-A2DFA782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8A3566-06F7-4F1C-9A5D-6D12A5D5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C6558C-0BEB-46B9-930A-C9C34417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385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gitleaks.generic-api-key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197427-AF44-497C-9681-8E3B38CF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623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CF5394-1247-4672-9B85-1FFEEC06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385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INFO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675435-8006-4DCB-B9FC-3D267125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92131C-08C1-4612-B56A-2A689382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385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private_key 被检测为类密钥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1AB406-7B89-410C-A642-B1999204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AD44A4-6AA3-4E53-BA2B-431A1E7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A84793-2B11-46E4-9579-D2926CA3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072013-E3E4-4C36-ABA2-E5BEB73A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B6C81E-E4D0-45E2-9652-435D4C95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957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hardcoded-password-default-argument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9E0E91-F69F-4E0D-8DB0-B018664A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95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596438-F077-41D3-93E4-E938D4B8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957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WARNING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58D8F8-1CC6-4788-9920-AA900C26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1ED622-02A0-450E-993D-C7009C38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957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函数默认参数中有硬编码密码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B989D2-5CEB-44C1-A1A6-B52E12EC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355362-E056-49CA-8555-EBDDD145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673EF3-1897-45D4-AAC4-C2FE6E5B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781539B-E5DF-4A0E-AAD6-6680E556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FA4810-79F7-499E-B806-BF55FC36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52975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gitleaks.generic-api-key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C0423C-DD89-414C-BCAF-5C0EDAD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7677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7847F6-9ADE-4C78-9148-5A328576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52975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INFO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852B51-2B5D-41C4-8AF1-EBC71E62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0E7BED-7921-467E-8312-71141E2B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52975"/>
            <a:ext cx="508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默认密码被检测为类密钥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677ED0-1500-4C53-A2DC-0318B654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5</a:t>
            </a:r>
          </a:p>
        </p:txBody>
      </p:sp>
    </p:spTree>
    <p:extLst>
      <p:ext uri="{BB962C8B-B14F-4D97-AF65-F5344CB8AC3E}">
        <p14:creationId xmlns:p14="http://schemas.microsoft.com/office/powerpoint/2010/main" val="1564207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7FAFD-1F87-4457-9534-F6102F1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五、Layer 2：语义解析后的攻击链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80EDD-3FED-4D40-93A9-4887966A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8100E-CAFF-4C13-96EA-32724591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1143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E8162-166A-405E-9BFE-66EAE215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337E7-98A0-467C-9472-E962D16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52575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攻击链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0B2B0-6810-47D5-9ED2-08C3AED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76375"/>
            <a:ext cx="4857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3D9DE-692E-411C-8747-AEC29A15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525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DE4D7-0792-410E-B0BC-13CD3740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FCE1F-0415-474D-9AD9-6A58FC14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52575"/>
            <a:ext cx="480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城市治理影响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4DE47-7F95-4DC2-B532-46FBC3A2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1143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7A9EE-15EF-4062-B6C1-DB162D8B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0FE7B-BFBC-4866-A04C-9BE97D5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4575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A. API Token 泄露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2D9DA-96C6-43E6-A110-803600AF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38375"/>
            <a:ext cx="4857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8AA36-5082-4B17-9D77-F087C01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145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模块级变量可被任意 import 访问；日志、回溯、调试输出均可能泄露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8CB5D-D826-40F9-9635-6DB21B9D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FD317-E90F-426B-A7A8-3815363F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14575"/>
            <a:ext cx="480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可冒充智能体调用上游数据 API，污染气象、交通等分析输入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9A547-C689-4BB7-AC60-91F9D089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1143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B4BD0-EFAC-497D-90A9-B20AF6E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53462-9D0B-4CDB-869A-D449E522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B. DB 密码泄露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81407-900D-4B04-98C4-155D35A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0375"/>
            <a:ext cx="4857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C1FC2-A214-4396-B2EF-8438F452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765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函数返回 dict 中包含 db_password，可能被日志、缓存或 JSON 序列化传播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F4017-F875-45CF-80E2-17440CAE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990BB-E45B-4C47-B7FF-6ACB79DF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76575"/>
            <a:ext cx="480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城市运行数据库面临读取泄露，影响网格、事件、人员等数据安全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18A2F-7B1D-49AD-AF0B-B33872BE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62375"/>
            <a:ext cx="1143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8BB5C-C2FC-4BA2-BA0A-15A4560F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62375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E3E45-A182-4BFB-BA25-25D8FA7B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C. 私钥硬编码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E3CB5B-D75C-4E6F-9842-FCDCA426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62375"/>
            <a:ext cx="4857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206DA-31B3-4C3C-92E7-0489249B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385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ReportExporter 含 mask_fields 且私钥固定，报告加密/签名可信度下降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3DD9E8-866A-41F1-93E1-B43575B8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24192-EEE6-4FD0-B616-1013BFD7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38575"/>
            <a:ext cx="480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文书导出和脱敏结果可能被解密、篡改或伪造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291358-691D-4CC5-A901-4AC38F2A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1143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4DFBAD-A7A0-4917-A8DF-1A33D15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465BA6-B7D0-40EB-9F15-23CE954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1466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D. 默认密码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163CB-C7E8-43E7-98E9-85E14A1C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24375"/>
            <a:ext cx="4857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9B5F0A-A672-40EC-A7EE-B14A649D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005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open_legacy_connection 无参调用即可使用默认 MySQL 密码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2C3EFA-F1A3-4632-BA92-DFFAC00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A9DDFE-8976-47DC-A982-AA96C74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00575"/>
            <a:ext cx="480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遗留调用路径可形成未授权数据库访问入口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079FF3-D8DD-44D8-B65D-1C88BA9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132D3B-BF0A-4100-9DCF-AD949609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02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语义分析的价值：不只报告“哪一行命中规则”，还判断代码在智能体链路中如何传播、被谁调用、会导致什么治理后果。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52D1A2-234B-4D56-866D-64E79072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6</a:t>
            </a:r>
          </a:p>
        </p:txBody>
      </p:sp>
    </p:spTree>
    <p:extLst>
      <p:ext uri="{BB962C8B-B14F-4D97-AF65-F5344CB8AC3E}">
        <p14:creationId xmlns:p14="http://schemas.microsoft.com/office/powerpoint/2010/main" val="966396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E6238-A82F-444E-86AA-92472621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六、风险映射：对应三类治理智能体风险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36BF9-F811-4D95-834C-7196C20E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1B2B8-E95D-40D9-A875-AD0E5816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3C3B0-097D-4053-BE6D-8F8A3DE8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19F82-D563-48CE-AA07-711C00A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9DD52-F58B-4124-AEC3-8D926DE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21101-D3E4-41E1-AC83-625EAAF0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47825"/>
            <a:ext cx="4324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本次发现中的触发点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2DE87-E828-4BA0-971D-74F054E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52B50-E911-4A3D-90F0-6EA79CB9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47825"/>
            <a:ext cx="4610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可能后果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47939-7F8E-4468-822B-AABE201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E5106-3BF0-481B-BAA9-ABF68CCF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B2E7F-A136-4306-AB4D-729733C8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越权访问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72D07-9B19-4B18-BAEA-CDC30F60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9077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46595-9AA3-452B-B1F0-C3E577A4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66975"/>
            <a:ext cx="4324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默认 MySQL 密码、db_password 硬编码、API token 硬编码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E2277-3322-42E5-A030-A248F4B3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90775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63C9F-B2A3-4A3B-A767-83A8D548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66975"/>
            <a:ext cx="4610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绕过授权边界读取城市数据库或调用外部数据服务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6F158-BE88-4524-963B-A01281A4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416CB-FA5C-4373-BDD4-5948FCD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4946A-E0C4-433D-8A7D-1466BD8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隐私泄露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9FF85-839E-4092-9669-DE6DE982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0992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15341-43C0-4E2A-B0D2-7D7F78E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86125"/>
            <a:ext cx="4324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ReportExporter 私钥硬编码，mask_fields 涉及 phone / email / id_card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247F3-2DE0-41D9-A9AB-E334ECCD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9925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CEDA4-5A1D-41F3-B88D-61DC6E6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4610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脱敏报告失效，敏感字段可能在文书生成或导出中外泄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F66F2-0947-468C-B16C-CA6A52EC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02BB8-CCB4-430A-B01B-3E64F27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2EE90-7AA8-450B-BF01-48F85DD5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错误决策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81A6B-9482-44C7-93CE-DF54298F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2907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F0A914-7E92-4266-B7AB-9A92C2CB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05275"/>
            <a:ext cx="4324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上游 API 凭据泄露后可能被恶意调用或污染数据源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1259E-DAF7-444E-ACDA-70F02A61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42A3B-B566-4FDD-BD53-610AABA6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05275"/>
            <a:ext cx="4610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交通调度、事件研判、资源派单等分析结论被错误数据诱导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BB7BE-8774-4B4F-BA77-85261871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95BEF-FAB6-464C-BF1C-CFB4FD44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5124D-9123-4096-9098-921B37C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审计不可追溯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A674AA-8CB1-4F00-820A-7A045283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4822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64F63B-2CA9-420D-BE2D-0765C539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24425"/>
            <a:ext cx="4324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凭据写死在代码中，所有环境共享，无法按环境、人员、时间轮换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11A09-5B2C-44AB-A105-74CBF82A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48225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F5C6E-24AA-4671-9D66-187E68B7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24425"/>
            <a:ext cx="4610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事后难以区分合法调用、异常调用和攻击调用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4E4190-F077-4E22-B814-DB3A1729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7</a:t>
            </a:r>
          </a:p>
        </p:txBody>
      </p:sp>
    </p:spTree>
    <p:extLst>
      <p:ext uri="{BB962C8B-B14F-4D97-AF65-F5344CB8AC3E}">
        <p14:creationId xmlns:p14="http://schemas.microsoft.com/office/powerpoint/2010/main" val="1676100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8C11F-0A52-4EBF-88CD-F8F43FA9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七、检测结论与修复优先级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89A7C-298B-478D-B917-9A4F5AA6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69FDA-3B55-4201-98A7-47423E83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600BE-DC0C-4A8C-972B-D3B332A5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68328-9750-4FE1-8F14-7837779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E5EB6-C428-440B-B5A3-0FCCF20E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3E9EA-2416-4EAE-9638-A2C29D32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049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E0C5B-8726-4092-9658-7FCFCE38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31F99-C61D-42FB-8FCC-9C05DD64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CC409-E184-4728-8079-59F4E189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OpenGrep 总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FE379-8B15-4C7C-8557-843A87F5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859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046A2-8B1A-43D2-93F6-54685BE4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A9B26-2231-43DF-9A60-C1EDB4F9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3A4C4-BDD3-46C3-A490-36EBCF51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3C016-3C12-4F13-BDB3-25130A92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去重后独立漏洞点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857C1-96DF-4192-B965-4F7C04BC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DCBE5-F62C-4952-BD69-FFB6DD4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193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36B57-5538-472C-9CE3-DF44E914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50F69-D58A-4C65-A857-9652DCA8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92647-F86B-4B5A-9C10-972675B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519E3-BC9A-423D-80BC-E275096A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48E52-227E-4A07-85D6-CF6A498D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D221F-0ECF-4669-9F11-3AA292ED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03B9D-7669-4F4F-926B-21446BC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1127C-F43C-4C1F-AA62-B1C66B94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INFO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FADD67-C2DF-4440-AC95-F515495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575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AEA71-D081-485C-9AE3-AA6FEF5C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4（均为重复确认或交叉验证）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A51D5-C619-4BEA-96FF-5EEB06AC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FD1FF-89A0-456A-844B-1B421D79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A9B4A-6D8A-464C-8B5B-CCDB7D38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误报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97CDFF-166C-442D-9659-3D99FBC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A0EB6-A30B-4547-9F39-44D3496B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FE80A-26D9-49D4-8F46-39FCF256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931421-6639-4A4E-BAD6-5169F28C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26B72-DA7D-4EB1-9F92-CCBDB2CD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P0 立即修复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D404B5-F828-416A-A9CD-C5E3ED88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3B716E-8FD2-43EF-90C8-409AFE17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481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24B684-20EE-4E37-92AF-6B810F2F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5AE46A-D2F5-4F05-B582-B445236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EDC2AC-704B-4060-9D64-8D1FCB6C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990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P1 本周修复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C827DD-35B8-4D05-844E-6E9E16B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035BDF-E234-4611-9CD0-ABE927E8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394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5C8388-CFA5-4E4A-B150-4940F090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5731FF-BE25-4E5F-A296-1BC771C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29C9DB-7AA8-482B-B55E-C0BE4DFE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0495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51DFF7-0C19-44C1-8CC9-84CCF65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0B51AE-A51F-4723-BCC8-8D245FAB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B66D23-26B6-4A9B-B813-0BFE649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3581F2-DF5C-4DBB-A3FA-D138F229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049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B96E4A-1E1E-4F9F-B38D-3E52590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27F39A-24AD-419D-BF11-B299284A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04E6BB-4B13-4C6C-834F-BE702B8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574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A70DCA-7D50-4805-9591-AF94A5A3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677A83-7E1D-495B-A5EE-525D0F49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open_legacy_connection 默认密码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489B91-10F8-4563-8DE8-41CC348C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71D31E-A355-475E-B9B2-6DB7BBA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无参调用即可使用 MySQL 凭据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CFF272-9A99-4BF2-A947-49604116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91B39E-3D8C-4E4E-8DD6-F4EBCF8B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398881-A868-4A5F-AD67-C729AE82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B7BD7F-2A2E-4F89-8BE5-4B7A531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7819D1-8EB8-4E03-8E5F-FAC0381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ReportExporter.private_key 硬编码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D47847-1F0C-49DE-B0B6-8A7D709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346700-60EA-4534-8D6A-EC899F9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加密和脱敏链路失效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67E446-DB2D-4731-9880-B3438A65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36719B-48A0-419D-9613-14E754DD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DABC86-07BC-4318-B531-09A1DB71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623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CC7DA6-0B15-4868-B3BA-25FBFB31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ACC466-D79A-4ED4-99AA-D7B4214B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db_password 硬编码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076AC8-BF2F-46B5-8D58-F75002B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5290B2-5552-48FB-BCA7-3A6738A7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数据库凭据暴露给代码访问者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F2AF7A-7642-4AD7-9C92-FB73ED2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6C82C8-A4D4-43C7-969A-1DE145E1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C28567-BCCE-4AF4-A699-46A24BF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1475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339532-0FA1-4FD8-A6F1-877E79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2F64355-1EA2-4CFE-8042-3D38886A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api_token 硬编码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D73784-D0B3-459E-85C5-2E935179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CCEB2B-0DED-41D6-88B9-7C82CB81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上游 API 认证凭据不可轮换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D80E2F-A69E-4255-B9D1-84DB3EAF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5E4297-0548-4645-8070-547CFCCD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982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结论：4 个独立漏洞均为真实硬编码凭据问题，不是单点偶发错误，而是配置抽象、密钥管理和遗留连接治理的系统性缺陷。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54DA73-2C7A-4AF1-ACCF-7A3203D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8</a:t>
            </a:r>
          </a:p>
        </p:txBody>
      </p:sp>
    </p:spTree>
    <p:extLst>
      <p:ext uri="{BB962C8B-B14F-4D97-AF65-F5344CB8AC3E}">
        <p14:creationId xmlns:p14="http://schemas.microsoft.com/office/powerpoint/2010/main" val="1863219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59F80-85BC-489E-ADE5-3C501F3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八、整改措施与合规闭环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0CA8B-8BF6-49F7-B830-2F86A13E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BECBD-F8AE-4024-B328-9FDB30CD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16937-BB56-4B03-8310-C95F06DE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E0FFE-6C0C-4A22-9696-50BFB128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525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BF887-B0FF-4BCE-BBC4-BC101FA3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763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E025A-21FE-4FAB-8BF8-FBABD9DD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5257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整改动作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748F9-1CA1-4FC2-85A8-F41F2B8D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7637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8DA71-29A5-45D0-AB3D-93BDBA9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52575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合规效果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56F0F-7DC9-4AA4-9841-B42C5E1E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9325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D78EE-873C-4818-A325-0542C3A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93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8C2CD-F065-45CE-B479-519D0B4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api_token 硬编码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45EBB-F5EA-49B0-857F-C78E872A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193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FD807-7568-4612-B72F-79BFDF52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9552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改为 CITY_DASHBOARD_API_TOKEN 等环境变量或密钥服务读取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1D8A8-6AE5-44EC-95C8-DE4B47E6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1932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26F60-79CC-4851-ABC9-87E7D409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95525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凭据可按环境隔离，可轮换，可审计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65C46-03E6-43EB-B324-9B7D6685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62275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1F2A8-4660-453F-913B-39BEE64F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622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84801-424D-4647-8D37-30108684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db_password 硬编码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976FA-BC46-41D0-AB6E-27B679C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622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53878-3186-4684-9F87-A4F9032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3847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改为 DB_PASSWORD_READONLY，由 Vault / secrets manager 注入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976C7-5558-42DB-A352-9ECD60BA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6227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91C81-231D-41D9-8383-18D73887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38475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数据库访问凭据不进入代码仓库和日志链路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05E24-C369-4775-9396-0FD2E055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16D97-FAEE-4EB2-B9BE-58B411E7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A9972-8735-4984-9C78-11EF0CB6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private_key 硬编码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F57A2-D8E2-4DE5-9D2B-3E5A1820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052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6DD79-4DE5-4A84-8727-FDCE7C1E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8142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改为 REPORT_PRIVATE_KEY，从密钥管理服务加载并强制缺失报错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53E0D-0D57-4E11-BE19-64655CB4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16BB4-E3F4-4D0E-A9AB-909D274E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81425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报告加密、签名、脱敏链路恢复可信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DACCD-2835-403A-96D1-6BC2306F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FB35FA-6EC0-41BF-9856-177E54DB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17960-BE9E-4D4F-B26B-38AA909D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默认密码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6D9B18-ADB6-4266-B38B-04FEB3B8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481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AFD50B-9010-4F03-9AFA-F8A40390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2437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删除默认 password，要求调用方显式传入凭据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1135F6-C9A4-46BF-9224-7E92A8B4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4817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092ED8-DD8C-48E9-AE0F-2991F11E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24375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阻断遗留无参调用导致的未授权数据库访问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7826CF-0F3E-49A5-9AB7-887824E6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3C3A5-956E-4A07-A3BE-B8DDAED1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4EF21C-68B3-4E8F-B9EA-291404EB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重复 INFO 命中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4A41D7-D7F0-45C7-90ED-23D7229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911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04A09D-49DD-4451-9B26-ECAA5D42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6732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在汇总层去重，保留交叉验证证据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283D6D-66F9-4C52-9B7A-449BE8F7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9112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F4835B-960A-41E7-9C99-6499FF3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67325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减少噪声，保持审计可解释性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76FF0F-215F-4013-A3CE-B6065E3C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9</a:t>
            </a:r>
          </a:p>
        </p:txBody>
      </p:sp>
    </p:spTree>
    <p:extLst>
      <p:ext uri="{BB962C8B-B14F-4D97-AF65-F5344CB8AC3E}">
        <p14:creationId xmlns:p14="http://schemas.microsoft.com/office/powerpoint/2010/main" val="1573182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539051-1E1A-41AB-A7DD-D500B7A2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九、完成任务与实际效果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F3D8A-6FB0-488A-A414-4F4A7B72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EDB62-E2C7-4EE3-B73C-674F6591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90E7E-BECE-480E-9556-620A929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96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完成了对智能体生成代码的 OpenGrep 调用、规则扫描、结果归并、语义解释和整改优先级输出。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1FC8E-FB83-4261-8A3F-A936FA2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C0C60-F701-4B31-81E4-A494B2A0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 7 条规则命中中归并出 4 个真实独立漏洞，确认 0 误报，并明确 P0/P1 修复顺序。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BB8D3-2C14-4B7F-8CE1-B315BF90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E792E-21D0-4B73-99AE-B321A03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10096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把代码层风险翻译为治理业务风险：越权访问、隐私泄露、错误决策和审计不可追溯。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E26DE-4D7D-4288-B57F-37311096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EABE7-15B8-4C07-8490-E0EADE7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0096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形成可落地的合规检测闭环：提交前扫描、CI 阶段阻断、报告留痕、修复后复扫。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C1EE8-091C-4ECF-AB64-D142E77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3DB52-C81A-46A5-8349-72014148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9675"/>
            <a:ext cx="9639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最终效果：让城市治理智能体在生成查询脚本、分析代码和工具调用代码时，能够被自动检查、被解释、被追责、被修复，从源头降低敏感数据和决策链路风险。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4677A-F783-4D73-811F-B210CEA6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OpenGrep 程序合规性检测说明 | 10</a:t>
            </a:r>
          </a:p>
        </p:txBody>
      </p:sp>
    </p:spTree>
    <p:extLst>
      <p:ext uri="{BB962C8B-B14F-4D97-AF65-F5344CB8AC3E}">
        <p14:creationId xmlns:p14="http://schemas.microsoft.com/office/powerpoint/2010/main" val="1905030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2026-05-20T13:24:04.9010000Z</dcterms:created>
  <dcterms:modified xsi:type="dcterms:W3CDTF">2026-05-20T13:24:04.9010000Z</dcterms:modified>
</coreProperties>
</file>